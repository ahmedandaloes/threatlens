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16x9"/>
  <p:notesSz cx="6858000" cy="9144000"/>
  <p:embeddedFontLst>
    <p:embeddedFont>
      <p:font typeface="Space Grotesk" charset="1"/>
      <p:regular r:id="rId18"/>
    </p:embeddedFont>
    <p:embeddedFont>
      <p:font typeface="Space Grotesk Bold" charset="1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ThreatLens is an AI threat-modeling agent. It takes an SME's app description (free text, architecture YAML/JSON, optional OpenAPI) and produces what an AppSec consultant delivers after a 3-5 day threat-modeling engagement: asset and data-flow inventory, STRIDE threat model mapped to OWASP Top 10 2021 / ASVS 4.0.3 / CWE, risk-scored findings, a prioritised remediation plan, a Mermaid DFD and Markdown/HTML/JSON reports. Source: README.md. License 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users: SME founders/CTOs and 2-10 person dev teams in Egypt and Saudi Arabia without in-house security staff; freelance and agency developers building client apps; security consultants who want a first draft in seconds. Regulation increasingly expects a documented security design: Egypt PDPL 151/2020, KSA PDPL, PCI DSS, NCA ECC, SAMA (context, not legal advice). Source: README.md 'The problem' and 'Who it's for'.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Manual engagement length 3-5 consultant-days and 7-21 day procurement/scheduling lead time are stated assumptions in docs/impact.md (author's consulting experience, not a market survey). Consequence described in README: SMEs ship IDORs, unsigned payment callbacks and internet-exposed admin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Mapping taken from README.md 'Workflow it replaces'. Manual: 3-5 days. ThreatLens: minutes including a recommended 2-4 h human review. STRIDE row = stride_analyze_component, analyze_data_flows, analyze_api_endpoints, analyze_system.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README.md Architecture and LLM mode sections; threatlens/tools.py TOOLS registry (12 tools: parse_architecture, enumerate_components, stride_analyze_component, analyze_data_flows, analyze_api_endpoints, analyze_system, map_to_owasp, score_risk, reflect, build_remediation_plan, render_diagram, render_report). LLM providers: Ollama Cloud (OLLAMA_API_KEY alias, default gpt-oss:120b at https://ollama.com/v1), OpenAI, OpenRouter, Groq, local Ollama. In LLM mode the model drives the loop, extracts architecture from free text, adds context-specific threats (tagged LLM-proposed) and writes the executive summary. Any LLM/network error falls back to offline mode. Risk = likelihood 1-5 x impact 1-5; Critical &gt;= 20, High &gt;= 12, Medium &gt;=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Shifa Care Clinic Booking (Cairo/Alexandria), input examples/clinic_booking.yaml. Source: examples/output/shifa_care_clinic_booking.md executive summary and docs/impact.md. Top criticals (risk 25/25): forged Paymob webhook/callback to the Booking API (A08, CWE-345); internet-exposed admin panel without MFA (A07, CWE-308/306); IDOR on the Booking API (A01, CWE-639/862); plus payment amount tampering at 20/25 (A04). 18 'Now' actions ~28.5 dev-days; full plan 30 actions, 54 dev-days.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docs/impact.md, generated by python benchmarks/impact_benchmark.py --runs 20 (offline deterministic mode, median of 20 runs per example). Recall: 37/38 across the three benchmarked examples (clinic 14/14, e-commerce 14/14, HR 9/10; the miss was mass assignment of salary/role fields, suppressed because the API documents input validation). The checklist was written by the author before measuring and is NOT independent ground truth. Runtime: 3.8-17.9 ms median per example; LLM mode takes seconds to minutes. Time and cost figures are ESTIMATES; assumptions in docs/impact.md: manual engagement 3-5 consultant-days (24-40 h), day rate USD 500-900 (assumed, not a market survey), human review of ThreatLens output 2-4 h, offline API cost USD 0 (LLM mode adds provider token cost). Lead time: minutes vs 7-21 days (assumption). On-slide values are the conservative ends of the ranges: 83%+ = at least 83% (range 83-95%); &lt;=$450 = USD 125-450 per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README.md 'Sample output' table, docs/impact.md per-example table, and the executive summaries in examples/output/*.md. Low findings: 0 in all four. All six STRIDE categories appear in each benchmarked example. Masar HR documents MFA via SSO, RBAC, audit logging, a WAF and monitoring, so ThreatLens reports fewer, lower-severity findings: documented controls suppress matching threats. Dawaa Express (Riyadh pharmacy delivery) was generated from a free-text paragraph only; it is not part of the recall benchmark. Agent time = median of 20 offline runs from docs/impact.md; Dawaa Express was not in the timing benchmark (n/a).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'Shipped' reflects the repo today (README.md: v1.0.0, offline KB, OpenAI-compatible LLM mode incl. Ollama Cloud, Streamlit app, 12 offline tests). The Next/Then/Later items are PROPOSED by the author and are not committed in the repo; they are drawn from the README Limitations section (ASVS references are section-level only; the expert checklist is author-written, not independent ground truth) and from the impact claim that a model can be re-run on every architecture change. Arabic reports and regulatory evidence packs are proposals; regulatory notes are context, not legal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Quickstart from README.md: (1) pip install -r requirements.txt (Python 3.10+); (2) python -m threatlens examples/clinic_booking.yaml; (3) open threatlens_output/shifa_care_clinic_booking.html (Linux xdg-open, Windows start). Web UI: streamlit run app.py. Docker: docker build -t threatlens . &amp;&amp; docker run -p 8501:8501 threatlens. Ask: try it on your own architecture and review the Now actions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434145"/>
            <a:ext cx="2237679" cy="30222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508211"/>
            <a:ext cx="1908495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101114"/>
                </a:solidFill>
                <a:latin typeface="Space Grotesk"/>
                <a:cs typeface="Space Grotesk"/>
                <a:sym typeface="Space Grotesk"/>
              </a:rPr>
              <a:t>UNTAP · AGENTS 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47267"/>
            <a:ext cx="9570232" cy="137472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84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ThreatLens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545778"/>
            <a:ext cx="6742664" cy="3764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7431"/>
              </a:lnSpc>
            </a:pPr>
            <a:r>
              <a:rPr sz="17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 modeling for SMEs in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285232"/>
            <a:ext cx="10875264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F59E0B"/>
                </a:solidFill>
                <a:latin typeface="Space Grotesk"/>
                <a:cs typeface="Space Grotesk"/>
                <a:sym typeface="Space Grotesk"/>
              </a:rPr>
              <a:t>AHMED ALAA ELDIN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530765"/>
            <a:ext cx="10875264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Principal Application Security Consultant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49812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012296"/>
            <a:ext cx="1347622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11472" y="3012296"/>
            <a:ext cx="1347622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64576" y="3012296"/>
            <a:ext cx="1347622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69736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Who we built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13464"/>
            <a:ext cx="3369056" cy="4517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325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Clinics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64568"/>
            <a:ext cx="3369056" cy="128101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86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Patient records and online booking. Health data (PHI) on the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472" y="3213464"/>
            <a:ext cx="3369056" cy="4517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325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E-commerce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472" y="3664568"/>
            <a:ext cx="3369056" cy="128101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86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Stores taking payments through Paymob and Fawry callbacks.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4576" y="3213464"/>
            <a:ext cx="3369056" cy="4517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2325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HR portals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4576" y="3664568"/>
            <a:ext cx="3369056" cy="124356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86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Payroll, salaries and national IDs or Iqamas for Saudi staff.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1582002"/>
            <a:ext cx="1005840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92898"/>
            <a:ext cx="8917716" cy="247842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2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A threat model costs a week most SMEs never buy.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04702"/>
            <a:ext cx="5981395" cy="7528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7431"/>
              </a:lnSpc>
            </a:pPr>
            <a:r>
              <a:rPr sz="17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3–5 consultant days. 1–3 weeks to schedule. Stale at the next release.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2309224"/>
            <a:ext cx="10875264" cy="137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90058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The workflow replaced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69194"/>
            <a:ext cx="5291328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MANUAL ENGAGEMENT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2069194"/>
            <a:ext cx="5291328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55528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Kick-off workshop and architecture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455528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parse_architecture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69852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Draw the DFD and trust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3069852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enumerate_components · render_diagram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4177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STRIDE session per component and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3684177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stride · flows · API · system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98501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Map to OWASP · ASVS · CWE and rate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4298501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map_to_owasp · score_risk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12825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Peer review for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912825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reflect (loops back to repair)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27150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Write the remediation roadmap and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5527150"/>
            <a:ext cx="529132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build_remediation_plan · render_report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606994"/>
            <a:ext cx="1043970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54908" y="3606994"/>
            <a:ext cx="1043970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251448" y="3606994"/>
            <a:ext cx="1043970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047988" y="3606994"/>
            <a:ext cx="1043970" cy="18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82326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How the agent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324885"/>
            <a:ext cx="2485644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F59E0B"/>
                </a:solidFill>
                <a:latin typeface="Space Grotesk"/>
                <a:cs typeface="Space Grotesk"/>
                <a:sym typeface="Space Grotesk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53298"/>
            <a:ext cx="2485644" cy="79943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An LLM via function calling or an offline policy picks the next tool.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4908" y="3324885"/>
            <a:ext cx="2485644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F59E0B"/>
                </a:solidFill>
                <a:latin typeface="Space Grotesk"/>
                <a:cs typeface="Space Grotesk"/>
                <a:sym typeface="Space Grotesk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908" y="3753298"/>
            <a:ext cx="2485644" cy="823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12 tools share one state backed by 42 STRIDE rules and 35 mitigations.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1448" y="3324885"/>
            <a:ext cx="2485644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F59E0B"/>
                </a:solidFill>
                <a:latin typeface="Space Grotesk"/>
                <a:cs typeface="Space Grotesk"/>
                <a:sym typeface="Space Grotesk"/>
              </a:rPr>
              <a:t>REFLECT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1448" y="3753298"/>
            <a:ext cx="2485644" cy="823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A coverage self-check loops back and a guardrail completes any skipped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7988" y="3324885"/>
            <a:ext cx="2485644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F59E0B"/>
                </a:solidFill>
                <a:latin typeface="Space Grotesk"/>
                <a:cs typeface="Space Grotesk"/>
                <a:sym typeface="Space Grotesk"/>
              </a:rPr>
              <a:t>RUN ANYWHERE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7988" y="3753298"/>
            <a:ext cx="2485644" cy="823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Offline with no API key or any OpenAI-compatible LLM including Ollama Cloud.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047848"/>
            <a:ext cx="782239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68624" y="3047848"/>
            <a:ext cx="782239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278880" y="3047848"/>
            <a:ext cx="782239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089136" y="3047848"/>
            <a:ext cx="782239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7272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Demo: clinic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67304"/>
            <a:ext cx="2444496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59E0B"/>
                </a:solidFill>
                <a:latin typeface="Space Grotesk Bold"/>
                <a:cs typeface="Space Grotesk Bold"/>
                <a:sym typeface="Space Grotesk Bold"/>
              </a:rPr>
              <a:t>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413223"/>
            <a:ext cx="2444496" cy="5329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Findings across 11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624" y="3267304"/>
            <a:ext cx="2444496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59E0B"/>
                </a:solidFill>
                <a:latin typeface="Space Grotesk Bold"/>
                <a:cs typeface="Space Grotesk Bold"/>
                <a:sym typeface="Space Grotesk Bold"/>
              </a:rPr>
              <a:t>4/25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8624" y="4413223"/>
            <a:ext cx="2444496" cy="5329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Critical / High (+14 Medium)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880" y="3267304"/>
            <a:ext cx="2444496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59E0B"/>
                </a:solidFill>
                <a:latin typeface="Space Grotesk Bold"/>
                <a:cs typeface="Space Grotesk Bold"/>
                <a:sym typeface="Space Grotesk Bold"/>
              </a:rPr>
              <a:t>9/10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880" y="4413223"/>
            <a:ext cx="2444496" cy="5329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OWASP Top 10 2021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3267304"/>
            <a:ext cx="2444496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59E0B"/>
                </a:solidFill>
                <a:latin typeface="Space Grotesk Bold"/>
                <a:cs typeface="Space Grotesk Bold"/>
                <a:sym typeface="Space Grotesk Bold"/>
              </a:rPr>
              <a:t>6/6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4413223"/>
            <a:ext cx="2444496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STRIDE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161204"/>
            <a:ext cx="1081999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05376" y="3161204"/>
            <a:ext cx="1081999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52384" y="3161204"/>
            <a:ext cx="1081999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90629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Measured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80660"/>
            <a:ext cx="3381248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59E0B"/>
                </a:solidFill>
                <a:latin typeface="Space Grotesk Bold"/>
                <a:cs typeface="Space Grotesk Bold"/>
                <a:sym typeface="Space Grotesk Bold"/>
              </a:rPr>
              <a:t>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26579"/>
            <a:ext cx="338124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Recall: 37 of 38 checklist threats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376" y="3380660"/>
            <a:ext cx="3381248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59E0B"/>
                </a:solidFill>
                <a:latin typeface="Space Grotesk Bold"/>
                <a:cs typeface="Space Grotesk Bold"/>
                <a:sym typeface="Space Grotesk Bold"/>
              </a:rPr>
              <a:t>83%+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5376" y="4526579"/>
            <a:ext cx="338124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Less expert time: 83–95% (estimate)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2384" y="3380660"/>
            <a:ext cx="3381248" cy="12438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59E0B"/>
                </a:solidFill>
                <a:latin typeface="Space Grotesk Bold"/>
                <a:cs typeface="Space Grotesk Bold"/>
                <a:sym typeface="Space Grotesk Bold"/>
              </a:rPr>
              <a:t>≤$450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2384" y="4526579"/>
            <a:ext cx="338124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Per model vs $1,500–4,500 (estimate)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2430448"/>
            <a:ext cx="10875264" cy="137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11283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Results across four SMEs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0418"/>
            <a:ext cx="1407305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1977" y="2190418"/>
            <a:ext cx="1407305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5586" y="2190418"/>
            <a:ext cx="1407305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AGENT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9195" y="2190418"/>
            <a:ext cx="1407305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2805" y="2190418"/>
            <a:ext cx="1407305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C / H /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6414" y="2190418"/>
            <a:ext cx="1407305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OWASP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0023" y="2190418"/>
            <a:ext cx="1407305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FIX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576752"/>
            <a:ext cx="1407305" cy="5329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Shifa Care clinic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1977" y="2576752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5586" y="2576752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12.9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9195" y="2576752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2805" y="2576752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4 / 25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6414" y="2576752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9/10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0023" y="2576752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54 dev-days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19810"/>
            <a:ext cx="1407305" cy="5329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Nile Threads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1977" y="3519810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YAML + OpenAPI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5586" y="3519810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17.9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9195" y="3519810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2805" y="3519810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10 / 22 /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6414" y="3519810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10/10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0023" y="3519810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43 dev-days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462868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Masar HR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1977" y="4462868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5586" y="4462868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3.8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9195" y="4462868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2805" y="4462868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1 / 15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6414" y="4462868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8/10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0023" y="4462868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34.5 dev-days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405925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Dawaa pharmacy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977" y="5405925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Free 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5586" y="5405925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n/a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9195" y="5405925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33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2805" y="5405925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4 / 18 / 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6414" y="5405925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8/10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0023" y="5405925"/>
            <a:ext cx="1407305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49.5 dev-days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318175"/>
            <a:ext cx="10875264" cy="12802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58368" y="3226735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377184" y="3226735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096000" y="3226735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814816" y="3226735"/>
            <a:ext cx="182880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8368"/>
            <a:ext cx="7830190" cy="720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44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720511"/>
            <a:ext cx="2462784" cy="30114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15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041313"/>
            <a:ext cx="2462784" cy="79943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v1.0 offline agent with LLM mode and Streamlit UI. 12 offline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7184" y="3720511"/>
            <a:ext cx="2462784" cy="30114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15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84" y="4041313"/>
            <a:ext cx="2462784" cy="823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Requirement-level ASVS IDs and an independently reviewed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3720511"/>
            <a:ext cx="2462784" cy="30114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15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4041313"/>
            <a:ext cx="2462784" cy="823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Run in CI on every architecture change with diffs between releases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3720511"/>
            <a:ext cx="2462784" cy="30114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15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4041313"/>
            <a:ext cx="2462784" cy="79943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Arabic reports and PDPL · NCA ECC evidence packs for auditors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3422" y="-850392"/>
            <a:ext cx="4251960" cy="4251960"/>
          </a:xfrm>
          <a:prstGeom prst="rect">
            <a:avLst/>
          </a:prstGeom>
          <a:gradFill rotWithShape="1">
            <a:gsLst>
              <a:gs pos="0">
                <a:srgbClr val="302513"/>
              </a:gs>
              <a:gs pos="100000">
                <a:srgbClr val="101114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1455725"/>
            <a:ext cx="1005840" cy="256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THREATLENS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16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1774"/>
              </a:lnSpc>
            </a:pPr>
            <a:r>
              <a:rPr sz="900" b="1" spc="160">
                <a:solidFill>
                  <a:srgbClr val="F2F3F5"/>
                </a:solidFill>
                <a:latin typeface="Space Grotesk"/>
                <a:cs typeface="Space Grotesk"/>
                <a:sym typeface="Space Grotesk"/>
              </a:rPr>
              <a:t>GITHUB.COM/AHMEDANDALOES/THREATLENS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66621"/>
            <a:ext cx="8047695" cy="85102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5200" b="0">
                <a:solidFill>
                  <a:srgbClr val="F2F3F5"/>
                </a:solidFill>
                <a:latin typeface="Space Grotesk Bold"/>
                <a:cs typeface="Space Grotesk Bold"/>
                <a:sym typeface="Space Grotesk Bold"/>
              </a:rPr>
              <a:t>Run it offline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42316"/>
            <a:ext cx="5981395" cy="7528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7431"/>
              </a:lnSpc>
            </a:pPr>
            <a:r>
              <a:rPr sz="17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github.com/ahmedandaloes/threatlens — run offline in 3 commands. No API key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85232"/>
            <a:ext cx="3320288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F59E0B"/>
                </a:solidFill>
                <a:latin typeface="Space Grotesk"/>
                <a:cs typeface="Space Grotesk"/>
                <a:sym typeface="Space Grotes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30765"/>
            <a:ext cx="332028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pip install -r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5856" y="5285232"/>
            <a:ext cx="3320288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F59E0B"/>
                </a:solidFill>
                <a:latin typeface="Space Grotesk"/>
                <a:cs typeface="Space Grotesk"/>
                <a:sym typeface="Space Grotes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5856" y="5530765"/>
            <a:ext cx="3320288" cy="5490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python -m threatlens examples/clinic_booking.yaml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344" y="5285232"/>
            <a:ext cx="3320288" cy="1756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1774"/>
              </a:lnSpc>
            </a:pPr>
            <a:r>
              <a:rPr sz="900" b="1" spc="160">
                <a:solidFill>
                  <a:srgbClr val="F59E0B"/>
                </a:solidFill>
                <a:latin typeface="Space Grotesk"/>
                <a:cs typeface="Space Grotesk"/>
                <a:sym typeface="Space Grotes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3344" y="5530765"/>
            <a:ext cx="3320288" cy="2745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3694"/>
              </a:lnSpc>
            </a:pPr>
            <a:r>
              <a:rPr sz="1200" b="0">
                <a:solidFill>
                  <a:srgbClr val="A3A4A6"/>
                </a:solidFill>
                <a:latin typeface="Space Grotesk"/>
                <a:cs typeface="Space Grotesk"/>
                <a:sym typeface="Space Grotesk"/>
              </a:rPr>
              <a:t>Open the HTML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